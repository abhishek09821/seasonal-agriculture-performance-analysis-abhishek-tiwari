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Relationship Id="rId3" Type="http://schemas.openxmlformats.org/officeDocument/2006/relationships/hyperlink" Target="https://github.com/Abhishek09821/Seasonal-Agriculture-Performance-Analysis-Abhishek-Tiwari.gi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hyperlink" Target="https://github.com/Abhishek09821/Seasonal-Agriculture-Performance-Analysis-Abhishek-Tiwari.gi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5800" y="3520440"/>
            <a:ext cx="4480560" cy="9601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sz="1800" b="0">
                <a:solidFill>
                  <a:srgbClr val="103552"/>
                </a:solidFill>
                <a:latin typeface="Aptos"/>
              </a:rPr>
              <a:t>Abhishek Tiwari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sz="1800" b="0">
                <a:solidFill>
                  <a:srgbClr val="103552"/>
                </a:solidFill>
                <a:latin typeface="Aptos"/>
              </a:rPr>
              <a:t>College Name: Amity University Gwalior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pPr algn="l"/>
            <a:r>
              <a:rPr sz="2500" b="1">
                <a:solidFill>
                  <a:srgbClr val="103552"/>
                </a:solidFill>
                <a:latin typeface="Aptos"/>
              </a:rPr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7726679" y="5468112"/>
            <a:ext cx="2880360" cy="384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841248" y="4224528"/>
            <a:ext cx="4983480" cy="530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1">
                <a:solidFill>
                  <a:srgbClr val="103552"/>
                </a:solidFill>
                <a:latin typeface="Aptos"/>
              </a:rPr>
              <a:t>AICTE STU ID: STU6596ba9396c591704376979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60120" y="1783080"/>
            <a:ext cx="7315200" cy="4297680"/>
          </a:xfrm>
        </p:spPr>
        <p:txBody>
          <a:bodyPr vert="horz" lIns="45720" tIns="27432" rIns="45720" bIns="27432" rtlCol="0" anchor="t">
            <a:normAutofit fontScale="70000" lnSpcReduction="20000"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4B5563"/>
                </a:solidFill>
                <a:latin typeface="Aptos"/>
              </a:defRPr>
            </a:pPr>
            <a:r>
              <a:rPr sz="1800" b="0">
                <a:solidFill>
                  <a:srgbClr val="4B5563"/>
                </a:solidFill>
                <a:latin typeface="Aptos"/>
              </a:rPr>
              <a:t>Agricultural performance changes across Kharif, Rabi and Zaid due to seasonal environmental conditions, farming practices, resource availability and market conditions.</a:t>
            </a:r>
            <a:endParaRPr lang="en-IN" sz="2800" dirty="0"/>
          </a:p>
          <a:p>
            <a:pPr algn="l"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4B5563"/>
                </a:solidFill>
                <a:latin typeface="Aptos"/>
              </a:defRPr>
            </a:pPr>
            <a:r>
              <a:rPr sz="1800" b="0">
                <a:solidFill>
                  <a:srgbClr val="4B5563"/>
                </a:solidFill>
                <a:latin typeface="Aptos"/>
              </a:rPr>
              <a:t>Raw agricultural data does not clearly explain how yield, profit, water efficiency and disease/pest risk vary between seasons.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4B5563"/>
                </a:solidFill>
                <a:latin typeface="Aptos"/>
              </a:defRPr>
            </a:pPr>
            <a:r>
              <a:rPr sz="1800" b="0">
                <a:solidFill>
                  <a:srgbClr val="4B5563"/>
                </a:solidFill>
                <a:latin typeface="Aptos"/>
              </a:rPr>
              <a:t>The project analyzes farm records to identify meaningful seasonal patterns, relationships, differences and unusual observations.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4B5563"/>
                </a:solidFill>
                <a:latin typeface="Aptos"/>
              </a:defRPr>
            </a:pPr>
            <a:r>
              <a:rPr sz="1800" b="0">
                <a:solidFill>
                  <a:srgbClr val="4B5563"/>
                </a:solidFill>
                <a:latin typeface="Aptos"/>
              </a:rPr>
              <a:t>The findings support evidence-based seasonal planning and better resource decisions.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pPr algn="l"/>
            <a:r>
              <a:rPr sz="2800" b="1">
                <a:solidFill>
                  <a:srgbClr val="103552"/>
                </a:solidFill>
                <a:latin typeface="Aptos"/>
              </a:rPr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pPr algn="l"/>
            <a:r>
              <a:rPr sz="2800" b="1">
                <a:solidFill>
                  <a:srgbClr val="103552"/>
                </a:solidFill>
                <a:latin typeface="Aptos"/>
              </a:rPr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463040"/>
            <a:ext cx="8778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B5563"/>
                </a:solidFill>
                <a:latin typeface="Aptos"/>
              </a:rPr>
              <a:t>This project performs an end-to-end analysis of 4,000 farm records covering Kharif, Rabi and Zaid seasons. The workflow includes data-quality checks, contextual missing-value treatment, seasonal comparisons, crop and irrigation analysis, correlation analysis, visual exploration and a non-parametric statistical test. The objective is to turn raw agricultural observations into evidence-based insights that can support better seasonal planning and resource decisions.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1417320"/>
            <a:ext cx="8595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Farmers and farm managers — seasonal crop and irrigation planning.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Agricultural planners and field teams — compare performance and resource usage.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Analysts and decision-makers — identify seasonal risk, profitability and areas for deeper investigation.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Training / academic stakeholders — use evidence-based agricultural analytics as a real-world case study.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pPr algn="l"/>
            <a:r>
              <a:rPr sz="2800" b="1">
                <a:solidFill>
                  <a:srgbClr val="103552"/>
                </a:solidFill>
                <a:latin typeface="Aptos"/>
              </a:rPr>
              <a:t>TECHNOLOGY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508760"/>
            <a:ext cx="8686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Python for data analysis and automation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Pandas &amp; NumPy for cleaning, transformation and aggregation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Matplotlib for data visualization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SciPy for statistical testing (Kruskal–Wallis H test)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Jupyter Notebook for reproducible analysis and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algn="l"/>
            <a:r>
              <a:rPr sz="2600" b="1">
                <a:solidFill>
                  <a:srgbClr val="103552"/>
                </a:solidFill>
                <a:latin typeface="Aptos"/>
              </a:rPr>
              <a:t>RESULTS — EXECUTIVE SUMMARY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Rounded Rectangle 23"/>
          <p:cNvSpPr/>
          <p:nvPr/>
        </p:nvSpPr>
        <p:spPr>
          <a:xfrm>
            <a:off x="685800" y="1417320"/>
            <a:ext cx="2011680" cy="1143000"/>
          </a:xfrm>
          <a:prstGeom prst="roundRect">
            <a:avLst/>
          </a:prstGeom>
          <a:solidFill>
            <a:srgbClr val="F2F8FB"/>
          </a:solidFill>
          <a:ln>
            <a:solidFill>
              <a:srgbClr val="279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15361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3552"/>
                </a:solidFill>
                <a:latin typeface="Aptos"/>
              </a:rPr>
              <a:t>Kharif Avg Profit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18105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9DCD"/>
                </a:solidFill>
                <a:latin typeface="Aptos"/>
              </a:rPr>
              <a:t>₹1.79 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1396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best seasonal average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1417320"/>
            <a:ext cx="2011680" cy="1143000"/>
          </a:xfrm>
          <a:prstGeom prst="roundRect">
            <a:avLst/>
          </a:prstGeom>
          <a:solidFill>
            <a:srgbClr val="F2F8FB"/>
          </a:solidFill>
          <a:ln>
            <a:solidFill>
              <a:srgbClr val="279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15361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3552"/>
                </a:solidFill>
                <a:latin typeface="Aptos"/>
              </a:rPr>
              <a:t>Zaid Avg Profit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18105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9DCD"/>
                </a:solidFill>
                <a:latin typeface="Aptos"/>
              </a:rPr>
              <a:t>-₹24,805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21396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loss-making on average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66360" y="1417320"/>
            <a:ext cx="2011680" cy="1143000"/>
          </a:xfrm>
          <a:prstGeom prst="roundRect">
            <a:avLst/>
          </a:prstGeom>
          <a:solidFill>
            <a:srgbClr val="F2F8FB"/>
          </a:solidFill>
          <a:ln>
            <a:solidFill>
              <a:srgbClr val="279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57800" y="15361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3552"/>
                </a:solidFill>
                <a:latin typeface="Aptos"/>
              </a:rPr>
              <a:t>Drip Avg Yield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18105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9DCD"/>
                </a:solidFill>
                <a:latin typeface="Aptos"/>
              </a:rPr>
              <a:t>6.67 t/ha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21396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highest irrigation yield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1417320"/>
            <a:ext cx="2011680" cy="1143000"/>
          </a:xfrm>
          <a:prstGeom prst="roundRect">
            <a:avLst/>
          </a:prstGeom>
          <a:solidFill>
            <a:srgbClr val="F2F8FB"/>
          </a:solidFill>
          <a:ln>
            <a:solidFill>
              <a:srgbClr val="279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15361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3552"/>
                </a:solidFill>
                <a:latin typeface="Aptos"/>
              </a:rPr>
              <a:t>Zaid Profitable Farms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18105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9DCD"/>
                </a:solidFill>
                <a:latin typeface="Aptos"/>
              </a:rPr>
              <a:t>35.5%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21396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lowest season</a:t>
            </a:r>
          </a:p>
        </p:txBody>
      </p:sp>
      <p:pic>
        <p:nvPicPr>
          <p:cNvPr id="40" name="Picture 39" descr="season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88920"/>
            <a:ext cx="4343400" cy="2057400"/>
          </a:xfrm>
          <a:prstGeom prst="rect">
            <a:avLst/>
          </a:prstGeom>
        </p:spPr>
      </p:pic>
      <p:pic>
        <p:nvPicPr>
          <p:cNvPr id="41" name="Picture 40" descr="season_pro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788920"/>
            <a:ext cx="4343400" cy="2057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5800" y="49834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3552"/>
                </a:solidFill>
                <a:latin typeface="Aptos"/>
              </a:rPr>
              <a:t>Overall pattern: Kharif leads in average profit and profitability; Zaid is financially weakest. Statistical tests confirm seasonal differences in profit, yield, water efficiency and disease/pest risk.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algn="l"/>
            <a:r>
              <a:rPr sz="2300" b="1">
                <a:solidFill>
                  <a:srgbClr val="103552"/>
                </a:solidFill>
                <a:latin typeface="Aptos"/>
              </a:rPr>
              <a:t>DATA CLEANING &amp; PREPARATION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 algn="l">
              <a:buNone/>
            </a:pPr>
            <a:endParaRPr lang="en-IN" dirty="0"/>
          </a:p>
        </p:txBody>
      </p:sp>
      <p:pic>
        <p:nvPicPr>
          <p:cNvPr id="31" name="Picture 30" descr="01_data_clea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9098280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algn="l"/>
            <a:r>
              <a:rPr sz="2300" b="1">
                <a:solidFill>
                  <a:srgbClr val="103552"/>
                </a:solidFill>
                <a:latin typeface="Aptos"/>
              </a:rPr>
              <a:t>SEASONAL AGGREGATION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 algn="l">
              <a:buNone/>
            </a:pPr>
            <a:endParaRPr lang="en-IN" dirty="0"/>
          </a:p>
        </p:txBody>
      </p:sp>
      <p:pic>
        <p:nvPicPr>
          <p:cNvPr id="31" name="Picture 30" descr="02_season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9098280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algn="l"/>
            <a:r>
              <a:rPr sz="2300" b="1">
                <a:solidFill>
                  <a:srgbClr val="103552"/>
                </a:solidFill>
                <a:latin typeface="Aptos"/>
              </a:rPr>
              <a:t>VISUAL ANALYSIS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 algn="l">
              <a:buNone/>
            </a:pPr>
            <a:endParaRPr lang="en-IN" dirty="0"/>
          </a:p>
        </p:txBody>
      </p:sp>
      <p:pic>
        <p:nvPicPr>
          <p:cNvPr id="31" name="Picture 30" descr="03_visu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9098280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algn="l"/>
            <a:r>
              <a:rPr sz="2300" b="1">
                <a:solidFill>
                  <a:srgbClr val="103552"/>
                </a:solidFill>
                <a:latin typeface="Aptos"/>
              </a:rPr>
              <a:t>STATISTICAL VALIDATION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 algn="l">
              <a:buNone/>
            </a:pPr>
            <a:endParaRPr lang="en-IN" dirty="0"/>
          </a:p>
        </p:txBody>
      </p:sp>
      <p:pic>
        <p:nvPicPr>
          <p:cNvPr id="31" name="Picture 30" descr="04_stati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9098280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 algn="l"/>
            <a:r>
              <a:rPr sz="2800" b="1">
                <a:solidFill>
                  <a:srgbClr val="103552"/>
                </a:solidFill>
                <a:latin typeface="Aptos"/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822960" y="141732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Add multi-year historical data to separate seasonal effects from year-to-year effects.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Build crop-specific predictive models for yield, profit and disease/pest risk.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Add geospatial analysis and district-level maps for localized planning.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Incorporate market-price forecasting and scenario analysis for input-cost changes.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Create an interactive Power BI / Streamlit dashboard for ongoing monitoring.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 algn="l"/>
            <a:r>
              <a:rPr sz="2800" b="1">
                <a:solidFill>
                  <a:srgbClr val="103552"/>
                </a:solidFill>
                <a:latin typeface="Aptos"/>
              </a:rPr>
              <a:t>GITHUB REPOSITORY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hlinkClick r:id="rId3"/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868680" y="1353312"/>
            <a:ext cx="8275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03552"/>
                </a:solidFill>
                <a:latin typeface="Aptos"/>
              </a:rPr>
              <a:t>https://github.com/Abhishek09821/Seasonal-Agriculture-Performance-Analysis-Abhishek-Tiwari.git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286000"/>
            <a:ext cx="8503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Aptos"/>
              </a:rPr>
              <a:t>Project repository containing the Jupyter Notebook and analysis files for the Seasonal Agriculture Performance Analysis.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pPr algn="l"/>
            <a:r>
              <a:rPr sz="2500" b="1">
                <a:solidFill>
                  <a:srgbClr val="103552"/>
                </a:solidFill>
                <a:latin typeface="Aptos"/>
              </a:rPr>
              <a:t>VOIS COURSE COMPLETION CERTIFICATE</a:t>
            </a:r>
          </a:p>
        </p:txBody>
      </p:sp>
      <p:pic>
        <p:nvPicPr>
          <p:cNvPr id="24" name="Picture 23" descr="vois_certifi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53312"/>
            <a:ext cx="9006840" cy="507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292608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ptos"/>
              </a:rPr>
              <a:t>Abhishek Tiwari • Seasonal Agriculture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1356</TotalTime>
  <Words>202</Words>
  <Application>Microsoft Office PowerPoint</Application>
  <PresentationFormat>Widescreen</PresentationFormat>
  <Paragraphs>26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98</cp:revision>
  <dcterms:created xsi:type="dcterms:W3CDTF">2021-07-11T13:13:15Z</dcterms:created>
  <dcterms:modified xsi:type="dcterms:W3CDTF">2026-09-04T02:42:44Z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